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1"/>
  </p:notesMasterIdLst>
  <p:sldIdLst>
    <p:sldId id="257" r:id="rId2"/>
    <p:sldId id="263" r:id="rId3"/>
    <p:sldId id="258" r:id="rId4"/>
    <p:sldId id="259" r:id="rId5"/>
    <p:sldId id="260" r:id="rId6"/>
    <p:sldId id="264" r:id="rId7"/>
    <p:sldId id="265" r:id="rId8"/>
    <p:sldId id="266" r:id="rId9"/>
    <p:sldId id="267"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56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413D83-5234-4495-992B-3E599096C56F}" type="datetimeFigureOut">
              <a:rPr lang="en-US" smtClean="0"/>
              <a:t>1/11/2026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C0AAF7-E346-4AE4-A391-C8F21CA7C322}" type="slidenum">
              <a:rPr lang="en-US" smtClean="0"/>
              <a:t>‹#›</a:t>
            </a:fld>
            <a:endParaRPr lang="en-US"/>
          </a:p>
        </p:txBody>
      </p:sp>
    </p:spTree>
    <p:extLst>
      <p:ext uri="{BB962C8B-B14F-4D97-AF65-F5344CB8AC3E}">
        <p14:creationId xmlns:p14="http://schemas.microsoft.com/office/powerpoint/2010/main" val="2745244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2762d78d48a_1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2762d78d48a_1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8621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1/11/2026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1/11/2026</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23"/>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23"/>
          <p:cNvSpPr txBox="1">
            <a:spLocks noGrp="1"/>
          </p:cNvSpPr>
          <p:nvPr>
            <p:ph type="body" idx="1"/>
          </p:nvPr>
        </p:nvSpPr>
        <p:spPr>
          <a:xfrm>
            <a:off x="343100" y="1509700"/>
            <a:ext cx="11534400" cy="5232800"/>
          </a:xfrm>
          <a:prstGeom prst="rect">
            <a:avLst/>
          </a:prstGeom>
          <a:noFill/>
          <a:ln>
            <a:noFill/>
          </a:ln>
        </p:spPr>
        <p:txBody>
          <a:bodyPr spcFirstLastPara="1" wrap="square" lIns="91425" tIns="91425" rIns="91425" bIns="91425" anchor="t" anchorCtr="0">
            <a:normAutofit/>
          </a:bodyPr>
          <a:lstStyle>
            <a:lvl1pPr marL="609585" lvl="0" indent="-445336" algn="l">
              <a:lnSpc>
                <a:spcPct val="130000"/>
              </a:lnSpc>
              <a:spcBef>
                <a:spcPts val="0"/>
              </a:spcBef>
              <a:spcAft>
                <a:spcPts val="0"/>
              </a:spcAft>
              <a:buSzPts val="1665"/>
              <a:buChar char="●"/>
              <a:defRPr/>
            </a:lvl1pPr>
            <a:lvl2pPr marL="1219170" lvl="1" indent="-414010" algn="l">
              <a:lnSpc>
                <a:spcPct val="115000"/>
              </a:lnSpc>
              <a:spcBef>
                <a:spcPts val="0"/>
              </a:spcBef>
              <a:spcAft>
                <a:spcPts val="0"/>
              </a:spcAft>
              <a:buSzPts val="1295"/>
              <a:buChar char="○"/>
              <a:defRPr/>
            </a:lvl2pPr>
            <a:lvl3pPr marL="1828754" lvl="2" indent="-414010" algn="l">
              <a:lnSpc>
                <a:spcPct val="115000"/>
              </a:lnSpc>
              <a:spcBef>
                <a:spcPts val="0"/>
              </a:spcBef>
              <a:spcAft>
                <a:spcPts val="0"/>
              </a:spcAft>
              <a:buSzPts val="1295"/>
              <a:buChar char="■"/>
              <a:defRPr/>
            </a:lvl3pPr>
            <a:lvl4pPr marL="2438339" lvl="3" indent="-414010" algn="l">
              <a:lnSpc>
                <a:spcPct val="115000"/>
              </a:lnSpc>
              <a:spcBef>
                <a:spcPts val="0"/>
              </a:spcBef>
              <a:spcAft>
                <a:spcPts val="0"/>
              </a:spcAft>
              <a:buSzPts val="1295"/>
              <a:buChar char="●"/>
              <a:defRPr/>
            </a:lvl4pPr>
            <a:lvl5pPr marL="3047924" lvl="4" indent="-414010" algn="l">
              <a:lnSpc>
                <a:spcPct val="115000"/>
              </a:lnSpc>
              <a:spcBef>
                <a:spcPts val="0"/>
              </a:spcBef>
              <a:spcAft>
                <a:spcPts val="0"/>
              </a:spcAft>
              <a:buSzPts val="1295"/>
              <a:buChar char="○"/>
              <a:defRPr/>
            </a:lvl5pPr>
            <a:lvl6pPr marL="3657509" lvl="5" indent="-414010" algn="l">
              <a:lnSpc>
                <a:spcPct val="115000"/>
              </a:lnSpc>
              <a:spcBef>
                <a:spcPts val="0"/>
              </a:spcBef>
              <a:spcAft>
                <a:spcPts val="0"/>
              </a:spcAft>
              <a:buSzPts val="1295"/>
              <a:buChar char="■"/>
              <a:defRPr/>
            </a:lvl6pPr>
            <a:lvl7pPr marL="4267093" lvl="6" indent="-414010" algn="l">
              <a:lnSpc>
                <a:spcPct val="115000"/>
              </a:lnSpc>
              <a:spcBef>
                <a:spcPts val="0"/>
              </a:spcBef>
              <a:spcAft>
                <a:spcPts val="0"/>
              </a:spcAft>
              <a:buSzPts val="1295"/>
              <a:buChar char="●"/>
              <a:defRPr/>
            </a:lvl7pPr>
            <a:lvl8pPr marL="4876678" lvl="7" indent="-414010" algn="l">
              <a:lnSpc>
                <a:spcPct val="115000"/>
              </a:lnSpc>
              <a:spcBef>
                <a:spcPts val="0"/>
              </a:spcBef>
              <a:spcAft>
                <a:spcPts val="0"/>
              </a:spcAft>
              <a:buSzPts val="1295"/>
              <a:buChar char="○"/>
              <a:defRPr/>
            </a:lvl8pPr>
            <a:lvl9pPr marL="5486263" lvl="8" indent="-414010" algn="l">
              <a:lnSpc>
                <a:spcPct val="115000"/>
              </a:lnSpc>
              <a:spcBef>
                <a:spcPts val="0"/>
              </a:spcBef>
              <a:spcAft>
                <a:spcPts val="0"/>
              </a:spcAft>
              <a:buSzPts val="1295"/>
              <a:buChar char="■"/>
              <a:defRPr/>
            </a:lvl9pPr>
          </a:lstStyle>
          <a:p>
            <a:endParaRPr/>
          </a:p>
        </p:txBody>
      </p:sp>
      <p:sp>
        <p:nvSpPr>
          <p:cNvPr id="16" name="Google Shape;16;p2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604020202020204"/>
              <a:buNone/>
              <a:defRPr sz="1333"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000"/>
              <a:buFont typeface="Arial" panose="020B0604020202020204"/>
              <a:buNone/>
              <a:defRPr sz="1333"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000"/>
              <a:buFont typeface="Arial" panose="020B0604020202020204"/>
              <a:buNone/>
              <a:defRPr sz="1333"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000"/>
              <a:buFont typeface="Arial" panose="020B0604020202020204"/>
              <a:buNone/>
              <a:defRPr sz="1333"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000"/>
              <a:buFont typeface="Arial" panose="020B0604020202020204"/>
              <a:buNone/>
              <a:defRPr sz="1333"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000"/>
              <a:buFont typeface="Arial" panose="020B0604020202020204"/>
              <a:buNone/>
              <a:defRPr sz="1333"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000"/>
              <a:buFont typeface="Arial" panose="020B0604020202020204"/>
              <a:buNone/>
              <a:defRPr sz="1333"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000"/>
              <a:buFont typeface="Arial" panose="020B0604020202020204"/>
              <a:buNone/>
              <a:defRPr sz="1333"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000"/>
              <a:buFont typeface="Arial" panose="020B0604020202020204"/>
              <a:buNone/>
              <a:defRPr sz="1333"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796954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 id="2147483669"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7.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3FF68-B73D-462A-BF06-297D1046B709}"/>
              </a:ext>
            </a:extLst>
          </p:cNvPr>
          <p:cNvSpPr>
            <a:spLocks noGrp="1"/>
          </p:cNvSpPr>
          <p:nvPr>
            <p:ph type="title"/>
          </p:nvPr>
        </p:nvSpPr>
        <p:spPr/>
        <p:txBody>
          <a:bodyPr/>
          <a:lstStyle/>
          <a:p>
            <a:r>
              <a:rPr lang="en-US" dirty="0"/>
              <a:t>Long Short-Term Memory (LSTM) model</a:t>
            </a:r>
          </a:p>
        </p:txBody>
      </p:sp>
      <p:sp>
        <p:nvSpPr>
          <p:cNvPr id="3" name="Content Placeholder 2">
            <a:extLst>
              <a:ext uri="{FF2B5EF4-FFF2-40B4-BE49-F238E27FC236}">
                <a16:creationId xmlns:a16="http://schemas.microsoft.com/office/drawing/2014/main" id="{E4CB0026-8BA2-4786-8E8E-CA262DDEBE36}"/>
              </a:ext>
            </a:extLst>
          </p:cNvPr>
          <p:cNvSpPr>
            <a:spLocks noGrp="1"/>
          </p:cNvSpPr>
          <p:nvPr>
            <p:ph idx="1"/>
          </p:nvPr>
        </p:nvSpPr>
        <p:spPr>
          <a:xfrm>
            <a:off x="347397" y="1384918"/>
            <a:ext cx="8596668" cy="3880773"/>
          </a:xfrm>
        </p:spPr>
        <p:txBody>
          <a:bodyPr/>
          <a:lstStyle/>
          <a:p>
            <a:r>
              <a:rPr lang="en-US" dirty="0"/>
              <a:t>Long Short-Term Memory (LSTM) is a specialized type of </a:t>
            </a:r>
            <a:r>
              <a:rPr lang="en-US" b="1" dirty="0"/>
              <a:t>Recurrent Neural Network (RNN)</a:t>
            </a:r>
            <a:r>
              <a:rPr lang="en-US" dirty="0"/>
              <a:t> designed to model sequential data and capture long-term dependencies. Introduced in 1997 by Sepp </a:t>
            </a:r>
            <a:r>
              <a:rPr lang="en-US" dirty="0" err="1"/>
              <a:t>Hochreiter</a:t>
            </a:r>
            <a:r>
              <a:rPr lang="en-US" dirty="0"/>
              <a:t> and Jürgen </a:t>
            </a:r>
            <a:r>
              <a:rPr lang="en-US" dirty="0" err="1"/>
              <a:t>Schmidhuber</a:t>
            </a:r>
            <a:r>
              <a:rPr lang="en-US" dirty="0"/>
              <a:t>, LSTMs were specifically created to solve the </a:t>
            </a:r>
            <a:r>
              <a:rPr lang="en-US" b="1" dirty="0"/>
              <a:t>vanishing gradient problem</a:t>
            </a:r>
            <a:r>
              <a:rPr lang="en-US" dirty="0"/>
              <a:t>, where traditional RNNs fail to retain information from many time steps ago because gradients shrink during training.</a:t>
            </a:r>
          </a:p>
        </p:txBody>
      </p:sp>
      <p:pic>
        <p:nvPicPr>
          <p:cNvPr id="4" name="Picture 3" descr="LSTM 1">
            <a:extLst>
              <a:ext uri="{FF2B5EF4-FFF2-40B4-BE49-F238E27FC236}">
                <a16:creationId xmlns:a16="http://schemas.microsoft.com/office/drawing/2014/main" id="{6085B257-A4B7-4744-8FAD-67FC31C3478B}"/>
              </a:ext>
            </a:extLst>
          </p:cNvPr>
          <p:cNvPicPr>
            <a:picLocks noChangeAspect="1"/>
          </p:cNvPicPr>
          <p:nvPr/>
        </p:nvPicPr>
        <p:blipFill>
          <a:blip r:embed="rId2"/>
          <a:stretch>
            <a:fillRect/>
          </a:stretch>
        </p:blipFill>
        <p:spPr>
          <a:xfrm>
            <a:off x="1435510" y="3326996"/>
            <a:ext cx="6277355" cy="3201209"/>
          </a:xfrm>
          <a:prstGeom prst="rect">
            <a:avLst/>
          </a:prstGeom>
        </p:spPr>
      </p:pic>
    </p:spTree>
    <p:extLst>
      <p:ext uri="{BB962C8B-B14F-4D97-AF65-F5344CB8AC3E}">
        <p14:creationId xmlns:p14="http://schemas.microsoft.com/office/powerpoint/2010/main" val="1711276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FORGET INPUT AND OUTPUT GATES DIAGRAM</a:t>
            </a:r>
          </a:p>
        </p:txBody>
      </p:sp>
      <p:sp>
        <p:nvSpPr>
          <p:cNvPr id="3" name="Text Placeholder 2"/>
          <p:cNvSpPr>
            <a:spLocks noGrp="1"/>
          </p:cNvSpPr>
          <p:nvPr>
            <p:ph type="body" idx="1"/>
          </p:nvPr>
        </p:nvSpPr>
        <p:spPr/>
        <p:txBody>
          <a:bodyPr/>
          <a:lstStyle/>
          <a:p>
            <a:r>
              <a:rPr lang="en-US"/>
              <a:t>FFFFFFFFFFFFF                                                                                                                                                                          </a:t>
            </a:r>
          </a:p>
        </p:txBody>
      </p:sp>
      <p:sp>
        <p:nvSpPr>
          <p:cNvPr id="4" name="Slide Number Placeholder 3"/>
          <p:cNvSpPr>
            <a:spLocks noGrp="1"/>
          </p:cNvSpPr>
          <p:nvPr>
            <p:ph type="sldNum" idx="12"/>
          </p:nvPr>
        </p:nvSpPr>
        <p:spPr/>
        <p:txBody>
          <a:bodyPr/>
          <a:lstStyle/>
          <a:p>
            <a:fld id="{00000000-1234-1234-1234-123412341234}" type="slidenum">
              <a:rPr lang="en-GB"/>
              <a:pPr/>
              <a:t>2</a:t>
            </a:fld>
            <a:endParaRPr lang="en-GB"/>
          </a:p>
        </p:txBody>
      </p:sp>
      <p:pic>
        <p:nvPicPr>
          <p:cNvPr id="5" name="Picture 4" descr="forget_gate"/>
          <p:cNvPicPr>
            <a:picLocks noChangeAspect="1"/>
          </p:cNvPicPr>
          <p:nvPr/>
        </p:nvPicPr>
        <p:blipFill>
          <a:blip r:embed="rId2"/>
          <a:stretch>
            <a:fillRect/>
          </a:stretch>
        </p:blipFill>
        <p:spPr>
          <a:xfrm>
            <a:off x="342900" y="1522307"/>
            <a:ext cx="2230120" cy="4344247"/>
          </a:xfrm>
          <a:prstGeom prst="rect">
            <a:avLst/>
          </a:prstGeom>
        </p:spPr>
      </p:pic>
      <p:pic>
        <p:nvPicPr>
          <p:cNvPr id="6" name="Picture 5" descr="output_gate"/>
          <p:cNvPicPr>
            <a:picLocks noChangeAspect="1"/>
          </p:cNvPicPr>
          <p:nvPr/>
        </p:nvPicPr>
        <p:blipFill>
          <a:blip r:embed="rId3"/>
          <a:stretch>
            <a:fillRect/>
          </a:stretch>
        </p:blipFill>
        <p:spPr>
          <a:xfrm>
            <a:off x="8347287" y="1509607"/>
            <a:ext cx="2692400" cy="4136813"/>
          </a:xfrm>
          <a:prstGeom prst="rect">
            <a:avLst/>
          </a:prstGeom>
        </p:spPr>
      </p:pic>
      <p:pic>
        <p:nvPicPr>
          <p:cNvPr id="7" name="Picture 6" descr="input_gate"/>
          <p:cNvPicPr>
            <a:picLocks noChangeAspect="1"/>
          </p:cNvPicPr>
          <p:nvPr/>
        </p:nvPicPr>
        <p:blipFill>
          <a:blip r:embed="rId4"/>
          <a:stretch>
            <a:fillRect/>
          </a:stretch>
        </p:blipFill>
        <p:spPr>
          <a:xfrm>
            <a:off x="4267201" y="1509607"/>
            <a:ext cx="2637367" cy="4135967"/>
          </a:xfrm>
          <a:prstGeom prst="rect">
            <a:avLst/>
          </a:prstGeom>
        </p:spPr>
      </p:pic>
    </p:spTree>
    <p:extLst>
      <p:ext uri="{BB962C8B-B14F-4D97-AF65-F5344CB8AC3E}">
        <p14:creationId xmlns:p14="http://schemas.microsoft.com/office/powerpoint/2010/main" val="1503482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BE515-C03D-480E-9601-19A9E1CC1F8A}"/>
              </a:ext>
            </a:extLst>
          </p:cNvPr>
          <p:cNvSpPr>
            <a:spLocks noGrp="1"/>
          </p:cNvSpPr>
          <p:nvPr>
            <p:ph type="title"/>
          </p:nvPr>
        </p:nvSpPr>
        <p:spPr>
          <a:xfrm flipH="1">
            <a:off x="9274001" y="609600"/>
            <a:ext cx="45719" cy="207038"/>
          </a:xfrm>
        </p:spPr>
        <p:txBody>
          <a:bodyPr>
            <a:normAutofit fontScale="90000"/>
          </a:bodyPr>
          <a:lstStyle/>
          <a:p>
            <a:r>
              <a:rPr lang="en-US" dirty="0"/>
              <a:t>.</a:t>
            </a:r>
          </a:p>
        </p:txBody>
      </p:sp>
      <p:sp>
        <p:nvSpPr>
          <p:cNvPr id="3" name="Content Placeholder 2">
            <a:extLst>
              <a:ext uri="{FF2B5EF4-FFF2-40B4-BE49-F238E27FC236}">
                <a16:creationId xmlns:a16="http://schemas.microsoft.com/office/drawing/2014/main" id="{CB7F2F33-9AA9-49B8-9782-FE4BE84DEE2E}"/>
              </a:ext>
            </a:extLst>
          </p:cNvPr>
          <p:cNvSpPr>
            <a:spLocks noGrp="1"/>
          </p:cNvSpPr>
          <p:nvPr>
            <p:ph idx="1"/>
          </p:nvPr>
        </p:nvSpPr>
        <p:spPr>
          <a:xfrm>
            <a:off x="592492" y="609600"/>
            <a:ext cx="8596668" cy="3880773"/>
          </a:xfrm>
        </p:spPr>
        <p:txBody>
          <a:bodyPr/>
          <a:lstStyle/>
          <a:p>
            <a:r>
              <a:rPr lang="en-US" dirty="0"/>
              <a:t>Normal RNNs struggle to remember information for a long time due to the </a:t>
            </a:r>
            <a:r>
              <a:rPr lang="en-US" b="1" dirty="0"/>
              <a:t>vanishing gradient problem</a:t>
            </a:r>
            <a:r>
              <a:rPr lang="en-US" dirty="0"/>
              <a:t>, but </a:t>
            </a:r>
            <a:r>
              <a:rPr lang="en-US" b="1" dirty="0"/>
              <a:t>LSTM solves this issue</a:t>
            </a:r>
            <a:r>
              <a:rPr lang="en-US" dirty="0"/>
              <a:t> by using a memory mechanism.</a:t>
            </a:r>
          </a:p>
          <a:p>
            <a:r>
              <a:rPr lang="en-US" dirty="0"/>
              <a:t>LSTM remembers important past information and forgets unnecessary data.</a:t>
            </a:r>
          </a:p>
          <a:p>
            <a:endParaRPr lang="en-US" dirty="0"/>
          </a:p>
        </p:txBody>
      </p:sp>
      <p:sp>
        <p:nvSpPr>
          <p:cNvPr id="6" name="Rectangle 2">
            <a:extLst>
              <a:ext uri="{FF2B5EF4-FFF2-40B4-BE49-F238E27FC236}">
                <a16:creationId xmlns:a16="http://schemas.microsoft.com/office/drawing/2014/main" id="{0AECD340-06E7-4F9C-9707-84FBA43604BF}"/>
              </a:ext>
            </a:extLst>
          </p:cNvPr>
          <p:cNvSpPr>
            <a:spLocks noChangeArrowheads="1"/>
          </p:cNvSpPr>
          <p:nvPr/>
        </p:nvSpPr>
        <p:spPr bwMode="auto">
          <a:xfrm>
            <a:off x="780942" y="2051350"/>
            <a:ext cx="8219768" cy="195685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0440" rIns="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0A0A0A"/>
                </a:solidFill>
                <a:effectLst/>
                <a:latin typeface="Google Sans"/>
              </a:rPr>
              <a:t>How an LSTM Works: The Three Gates</a:t>
            </a:r>
            <a:endParaRPr kumimoji="0" lang="en-US" altLang="en-US" sz="28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A0A0A"/>
                </a:solidFill>
                <a:effectLst/>
                <a:latin typeface="Google Sans"/>
              </a:rPr>
              <a:t>LSTMs use three "gates" to regulate which information is kept, added, or released from the cell state. These gates are neural networks themselves that use a </a:t>
            </a:r>
            <a:r>
              <a:rPr kumimoji="0" lang="en-US" altLang="en-US" sz="2000" b="1" i="0" u="none" strike="noStrike" cap="none" normalizeH="0" baseline="0" dirty="0">
                <a:ln>
                  <a:noFill/>
                </a:ln>
                <a:solidFill>
                  <a:srgbClr val="0A0A0A"/>
                </a:solidFill>
                <a:effectLst/>
                <a:latin typeface="Google Sans"/>
              </a:rPr>
              <a:t>sigmoid activation function</a:t>
            </a:r>
            <a:r>
              <a:rPr kumimoji="0" lang="en-US" altLang="en-US" sz="2000" b="0" i="0" u="none" strike="noStrike" cap="none" normalizeH="0" baseline="0" dirty="0">
                <a:ln>
                  <a:noFill/>
                </a:ln>
                <a:solidFill>
                  <a:srgbClr val="0A0A0A"/>
                </a:solidFill>
                <a:effectLst/>
                <a:latin typeface="Google Sans"/>
              </a:rPr>
              <a:t>, outputting values between 0 (reject all) and 1 (keep all).</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8" name="Rectangle 7">
            <a:extLst>
              <a:ext uri="{FF2B5EF4-FFF2-40B4-BE49-F238E27FC236}">
                <a16:creationId xmlns:a16="http://schemas.microsoft.com/office/drawing/2014/main" id="{E5EA3F33-D61C-4B7B-A02F-65CA51E7D095}"/>
              </a:ext>
            </a:extLst>
          </p:cNvPr>
          <p:cNvSpPr/>
          <p:nvPr/>
        </p:nvSpPr>
        <p:spPr>
          <a:xfrm>
            <a:off x="761651" y="4249624"/>
            <a:ext cx="8596667" cy="1846659"/>
          </a:xfrm>
          <a:prstGeom prst="rect">
            <a:avLst/>
          </a:prstGeom>
        </p:spPr>
        <p:txBody>
          <a:bodyPr wrap="square">
            <a:spAutoFit/>
          </a:bodyPr>
          <a:lstStyle/>
          <a:p>
            <a:pPr>
              <a:buFont typeface="+mj-lt"/>
              <a:buAutoNum type="arabicPeriod"/>
            </a:pPr>
            <a:r>
              <a:rPr lang="en-US" sz="2400" b="1" dirty="0">
                <a:solidFill>
                  <a:srgbClr val="0A0A0A"/>
                </a:solidFill>
                <a:latin typeface="Google Sans"/>
              </a:rPr>
              <a:t> Forget Gate:</a:t>
            </a:r>
            <a:r>
              <a:rPr lang="en-US" sz="2400" dirty="0">
                <a:solidFill>
                  <a:srgbClr val="0A0A0A"/>
                </a:solidFill>
                <a:latin typeface="Google Sans"/>
              </a:rPr>
              <a:t> </a:t>
            </a:r>
            <a:br>
              <a:rPr lang="en-US" sz="2400" dirty="0">
                <a:solidFill>
                  <a:srgbClr val="0A0A0A"/>
                </a:solidFill>
                <a:latin typeface="Google Sans"/>
              </a:rPr>
            </a:br>
            <a:r>
              <a:rPr lang="en-US" dirty="0">
                <a:solidFill>
                  <a:srgbClr val="0A0A0A"/>
                </a:solidFill>
                <a:latin typeface="Google Sans"/>
              </a:rPr>
              <a:t>Decides what information from the previous cell state is no longer useful and should be discarded.</a:t>
            </a:r>
            <a:br>
              <a:rPr lang="en-US" dirty="0">
                <a:solidFill>
                  <a:srgbClr val="0A0A0A"/>
                </a:solidFill>
                <a:latin typeface="Google Sans"/>
              </a:rPr>
            </a:br>
            <a:r>
              <a:rPr lang="en-US" b="1" dirty="0">
                <a:solidFill>
                  <a:srgbClr val="0A0A0A"/>
                </a:solidFill>
                <a:latin typeface="Google Sans"/>
              </a:rPr>
              <a:t>Formula: </a:t>
            </a:r>
            <a:r>
              <a:rPr lang="en-US" dirty="0"/>
              <a:t>t​=</a:t>
            </a:r>
            <a:r>
              <a:rPr lang="el-GR" dirty="0"/>
              <a:t>σ(</a:t>
            </a:r>
            <a:r>
              <a:rPr lang="en-US" dirty="0" err="1"/>
              <a:t>Wf</a:t>
            </a:r>
            <a:r>
              <a:rPr lang="en-US" dirty="0"/>
              <a:t>​⋅[ht−1​,</a:t>
            </a:r>
            <a:r>
              <a:rPr lang="en-US" dirty="0" err="1"/>
              <a:t>xt</a:t>
            </a:r>
            <a:r>
              <a:rPr lang="en-US" dirty="0"/>
              <a:t>​]+bf​)</a:t>
            </a:r>
            <a:r>
              <a:rPr lang="en-US" dirty="0">
                <a:solidFill>
                  <a:srgbClr val="0A0A0A"/>
                </a:solidFill>
                <a:latin typeface="Google Sans"/>
              </a:rPr>
              <a:t/>
            </a:r>
            <a:br>
              <a:rPr lang="en-US" dirty="0">
                <a:solidFill>
                  <a:srgbClr val="0A0A0A"/>
                </a:solidFill>
                <a:latin typeface="Google Sans"/>
              </a:rPr>
            </a:br>
            <a:r>
              <a:rPr lang="en-US" b="1" dirty="0">
                <a:solidFill>
                  <a:srgbClr val="0A0A0A"/>
                </a:solidFill>
                <a:latin typeface="Google Sans"/>
              </a:rPr>
              <a:t>Example:</a:t>
            </a:r>
            <a:r>
              <a:rPr lang="en-US" dirty="0">
                <a:solidFill>
                  <a:srgbClr val="0A0A0A"/>
                </a:solidFill>
                <a:latin typeface="Google Sans"/>
              </a:rPr>
              <a:t> In a language model, if a new subject is introduced, the gate may "forget" the gender of the old subject.</a:t>
            </a:r>
            <a:endParaRPr lang="en-US" b="0" i="0" dirty="0">
              <a:solidFill>
                <a:srgbClr val="0A0A0A"/>
              </a:solidFill>
              <a:effectLst/>
              <a:latin typeface="Google Sans"/>
            </a:endParaRPr>
          </a:p>
        </p:txBody>
      </p:sp>
    </p:spTree>
    <p:extLst>
      <p:ext uri="{BB962C8B-B14F-4D97-AF65-F5344CB8AC3E}">
        <p14:creationId xmlns:p14="http://schemas.microsoft.com/office/powerpoint/2010/main" val="385516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F975A6F-002C-4B85-A402-7047E70675FE}"/>
              </a:ext>
            </a:extLst>
          </p:cNvPr>
          <p:cNvSpPr/>
          <p:nvPr/>
        </p:nvSpPr>
        <p:spPr>
          <a:xfrm>
            <a:off x="668594" y="422787"/>
            <a:ext cx="8593393" cy="1671484"/>
          </a:xfrm>
          <a:prstGeom prst="rect">
            <a:avLst/>
          </a:prstGeom>
        </p:spPr>
        <p:txBody>
          <a:bodyPr wrap="square">
            <a:spAutoFit/>
          </a:bodyPr>
          <a:lstStyle/>
          <a:p>
            <a:r>
              <a:rPr lang="en-US" sz="2400" b="1" dirty="0">
                <a:solidFill>
                  <a:srgbClr val="0A0A0A"/>
                </a:solidFill>
                <a:latin typeface="Google Sans"/>
              </a:rPr>
              <a:t>2. Input Gate:</a:t>
            </a:r>
            <a:r>
              <a:rPr lang="en-US" sz="2000" dirty="0">
                <a:solidFill>
                  <a:srgbClr val="0A0A0A"/>
                </a:solidFill>
                <a:latin typeface="Google Sans"/>
              </a:rPr>
              <a:t> </a:t>
            </a:r>
            <a:br>
              <a:rPr lang="en-US" sz="2000" dirty="0">
                <a:solidFill>
                  <a:srgbClr val="0A0A0A"/>
                </a:solidFill>
                <a:latin typeface="Google Sans"/>
              </a:rPr>
            </a:br>
            <a:r>
              <a:rPr lang="en-US" sz="2000" dirty="0">
                <a:solidFill>
                  <a:srgbClr val="0A0A0A"/>
                </a:solidFill>
                <a:latin typeface="Google Sans"/>
              </a:rPr>
              <a:t>Determines which parts of the new input should be stored in the cell state. It creates a "candidate" vector of new information and uses the gate to decide how much of it to actually add.</a:t>
            </a:r>
            <a:r>
              <a:rPr lang="en-US" dirty="0">
                <a:solidFill>
                  <a:srgbClr val="0A0A0A"/>
                </a:solidFill>
                <a:latin typeface="Google Sans"/>
              </a:rPr>
              <a:t/>
            </a:r>
            <a:br>
              <a:rPr lang="en-US" dirty="0">
                <a:solidFill>
                  <a:srgbClr val="0A0A0A"/>
                </a:solidFill>
                <a:latin typeface="Google Sans"/>
              </a:rPr>
            </a:br>
            <a:r>
              <a:rPr lang="en-US" b="1" dirty="0">
                <a:solidFill>
                  <a:srgbClr val="0A0A0A"/>
                </a:solidFill>
                <a:latin typeface="Google Sans"/>
              </a:rPr>
              <a:t>Formula: </a:t>
            </a:r>
            <a:r>
              <a:rPr lang="en-US" dirty="0"/>
              <a:t>it​=σ(Wi​⋅[ht−1​,</a:t>
            </a:r>
            <a:r>
              <a:rPr lang="en-US" dirty="0" err="1"/>
              <a:t>xt</a:t>
            </a:r>
            <a:r>
              <a:rPr lang="en-US" dirty="0"/>
              <a:t>​]+bi​)</a:t>
            </a:r>
            <a:endParaRPr lang="en-US" b="0" i="0" dirty="0">
              <a:solidFill>
                <a:srgbClr val="0A0A0A"/>
              </a:solidFill>
              <a:effectLst/>
              <a:latin typeface="Google Sans"/>
            </a:endParaRPr>
          </a:p>
        </p:txBody>
      </p:sp>
      <p:sp>
        <p:nvSpPr>
          <p:cNvPr id="3" name="Rectangle 2">
            <a:extLst>
              <a:ext uri="{FF2B5EF4-FFF2-40B4-BE49-F238E27FC236}">
                <a16:creationId xmlns:a16="http://schemas.microsoft.com/office/drawing/2014/main" id="{72292723-8BD0-4612-943F-27D7008F35A7}"/>
              </a:ext>
            </a:extLst>
          </p:cNvPr>
          <p:cNvSpPr/>
          <p:nvPr/>
        </p:nvSpPr>
        <p:spPr>
          <a:xfrm>
            <a:off x="614515" y="2261419"/>
            <a:ext cx="8691716" cy="1384995"/>
          </a:xfrm>
          <a:prstGeom prst="rect">
            <a:avLst/>
          </a:prstGeom>
        </p:spPr>
        <p:txBody>
          <a:bodyPr wrap="square">
            <a:spAutoFit/>
          </a:bodyPr>
          <a:lstStyle/>
          <a:p>
            <a:r>
              <a:rPr lang="en-US" sz="2400" b="1" dirty="0">
                <a:solidFill>
                  <a:srgbClr val="0A0A0A"/>
                </a:solidFill>
                <a:latin typeface="Google Sans"/>
              </a:rPr>
              <a:t>3. Output Gate:</a:t>
            </a:r>
            <a:r>
              <a:rPr lang="en-US" sz="2000" dirty="0">
                <a:solidFill>
                  <a:srgbClr val="0A0A0A"/>
                </a:solidFill>
                <a:latin typeface="Google Sans"/>
              </a:rPr>
              <a:t> </a:t>
            </a:r>
            <a:br>
              <a:rPr lang="en-US" sz="2000" dirty="0">
                <a:solidFill>
                  <a:srgbClr val="0A0A0A"/>
                </a:solidFill>
                <a:latin typeface="Google Sans"/>
              </a:rPr>
            </a:br>
            <a:r>
              <a:rPr lang="en-US" sz="2000" dirty="0">
                <a:solidFill>
                  <a:srgbClr val="0A0A0A"/>
                </a:solidFill>
                <a:latin typeface="Google Sans"/>
              </a:rPr>
              <a:t>Selects which parts of the updated cell state will be output as the hidden state for the current time step.</a:t>
            </a:r>
            <a:br>
              <a:rPr lang="en-US" sz="2000" dirty="0">
                <a:solidFill>
                  <a:srgbClr val="0A0A0A"/>
                </a:solidFill>
                <a:latin typeface="Google Sans"/>
              </a:rPr>
            </a:br>
            <a:r>
              <a:rPr lang="en-US" sz="2000" b="1" dirty="0">
                <a:solidFill>
                  <a:srgbClr val="0A0A0A"/>
                </a:solidFill>
                <a:latin typeface="Google Sans"/>
              </a:rPr>
              <a:t>Formula: </a:t>
            </a:r>
            <a:r>
              <a:rPr lang="en-US" sz="2000" dirty="0"/>
              <a:t>Ct​=ft​⊙Ct−1​+it​⊙</a:t>
            </a:r>
            <a:r>
              <a:rPr lang="en-US" sz="2000" dirty="0" err="1"/>
              <a:t>C~t</a:t>
            </a:r>
            <a:r>
              <a:rPr lang="en-US" sz="2000" dirty="0"/>
              <a:t>​</a:t>
            </a:r>
          </a:p>
        </p:txBody>
      </p:sp>
      <p:sp>
        <p:nvSpPr>
          <p:cNvPr id="4" name="Rectangle 1">
            <a:extLst>
              <a:ext uri="{FF2B5EF4-FFF2-40B4-BE49-F238E27FC236}">
                <a16:creationId xmlns:a16="http://schemas.microsoft.com/office/drawing/2014/main" id="{B870983C-5BD3-48C3-8B64-E2887D7BA825}"/>
              </a:ext>
            </a:extLst>
          </p:cNvPr>
          <p:cNvSpPr>
            <a:spLocks noChangeArrowheads="1"/>
          </p:cNvSpPr>
          <p:nvPr/>
        </p:nvSpPr>
        <p:spPr bwMode="auto">
          <a:xfrm>
            <a:off x="614515" y="3812436"/>
            <a:ext cx="9168582" cy="20770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1D35"/>
                </a:solidFill>
                <a:effectLst/>
                <a:latin typeface="Google Sans"/>
              </a:rPr>
              <a:t>Why LSTMs are Effective</a:t>
            </a:r>
            <a:endParaRPr kumimoji="0" lang="en-US" altLang="en-US" sz="2400" b="0" i="0" u="none" strike="noStrike" cap="none" normalizeH="0" baseline="0" dirty="0">
              <a:ln>
                <a:noFill/>
              </a:ln>
              <a:solidFill>
                <a:srgbClr val="0A0A0A"/>
              </a:solidFill>
              <a:effectLst/>
              <a:latin typeface="Google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A0A0A"/>
                </a:solidFill>
                <a:effectLst/>
                <a:latin typeface="Google Sans"/>
              </a:rPr>
              <a:t>Handles Long Dependencies:</a:t>
            </a:r>
            <a:r>
              <a:rPr kumimoji="0" lang="en-US" altLang="en-US" sz="2000" b="0" i="0" u="none" strike="noStrike" cap="none" normalizeH="0" baseline="0" dirty="0">
                <a:ln>
                  <a:noFill/>
                </a:ln>
                <a:solidFill>
                  <a:srgbClr val="0A0A0A"/>
                </a:solidFill>
                <a:effectLst/>
                <a:latin typeface="Google Sans"/>
              </a:rPr>
              <a:t> Their gate mechanism allows them to remember crucial information from much earlier in a sequence.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0A0A0A"/>
                </a:solidFill>
                <a:effectLst/>
                <a:latin typeface="Google Sans"/>
              </a:rPr>
              <a:t>Solves Vanishing Gradient:</a:t>
            </a:r>
            <a:r>
              <a:rPr kumimoji="0" lang="en-US" altLang="en-US" sz="2000" b="0" i="0" u="none" strike="noStrike" cap="none" normalizeH="0" baseline="0" dirty="0">
                <a:ln>
                  <a:noFill/>
                </a:ln>
                <a:solidFill>
                  <a:srgbClr val="0A0A0A"/>
                </a:solidFill>
                <a:effectLst/>
                <a:latin typeface="Google Sans"/>
              </a:rPr>
              <a:t> The cell state's additive updates prevent gradients from shrinking too much during backpropagation, a common RNN issue.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84724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637F337-C525-46B4-86A6-B92BE6FF9070}"/>
              </a:ext>
            </a:extLst>
          </p:cNvPr>
          <p:cNvPicPr>
            <a:picLocks noChangeAspect="1"/>
          </p:cNvPicPr>
          <p:nvPr/>
        </p:nvPicPr>
        <p:blipFill>
          <a:blip r:embed="rId2"/>
          <a:stretch>
            <a:fillRect/>
          </a:stretch>
        </p:blipFill>
        <p:spPr>
          <a:xfrm>
            <a:off x="293316" y="593889"/>
            <a:ext cx="9121205" cy="4402317"/>
          </a:xfrm>
          <a:prstGeom prst="rect">
            <a:avLst/>
          </a:prstGeom>
        </p:spPr>
      </p:pic>
    </p:spTree>
    <p:extLst>
      <p:ext uri="{BB962C8B-B14F-4D97-AF65-F5344CB8AC3E}">
        <p14:creationId xmlns:p14="http://schemas.microsoft.com/office/powerpoint/2010/main" val="2635814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2762d78d48a_1_61"/>
          <p:cNvSpPr txBox="1">
            <a:spLocks noGrp="1"/>
          </p:cNvSpPr>
          <p:nvPr>
            <p:ph type="title"/>
          </p:nvPr>
        </p:nvSpPr>
        <p:spPr>
          <a:xfrm>
            <a:off x="415714" y="364914"/>
            <a:ext cx="11360573" cy="814493"/>
          </a:xfrm>
          <a:prstGeom prst="rect">
            <a:avLst/>
          </a:prstGeom>
        </p:spPr>
        <p:txBody>
          <a:bodyPr spcFirstLastPara="1" vert="horz" wrap="square" lIns="121900" tIns="121900" rIns="121900" bIns="121900" rtlCol="0" anchor="t" anchorCtr="0">
            <a:noAutofit/>
          </a:bodyPr>
          <a:lstStyle/>
          <a:p>
            <a:pPr>
              <a:buSzPts val="990"/>
            </a:pPr>
            <a:r>
              <a:rPr lang="en-US" sz="4027" b="1"/>
              <a:t>LSTM SOLVE THE VANISHING GRADIENT </a:t>
            </a:r>
          </a:p>
        </p:txBody>
      </p:sp>
      <p:sp>
        <p:nvSpPr>
          <p:cNvPr id="184" name="Google Shape;184;g2762d78d48a_1_61"/>
          <p:cNvSpPr txBox="1">
            <a:spLocks noGrp="1"/>
          </p:cNvSpPr>
          <p:nvPr>
            <p:ph type="sldNum" idx="12"/>
          </p:nvPr>
        </p:nvSpPr>
        <p:spPr>
          <a:prstGeom prst="rect">
            <a:avLst/>
          </a:prstGeom>
        </p:spPr>
        <p:txBody>
          <a:bodyPr spcFirstLastPara="1" vert="horz" wrap="square" lIns="121900" tIns="121900" rIns="121900" bIns="121900" rtlCol="0" anchor="ctr" anchorCtr="0">
            <a:normAutofit/>
          </a:bodyPr>
          <a:lstStyle/>
          <a:p>
            <a:fld id="{00000000-1234-1234-1234-123412341234}" type="slidenum">
              <a:rPr lang="en-GB"/>
              <a:pPr/>
              <a:t>6</a:t>
            </a:fld>
            <a:endParaRPr lang="en-GB"/>
          </a:p>
        </p:txBody>
      </p:sp>
      <p:sp>
        <p:nvSpPr>
          <p:cNvPr id="2" name="Text Box 1"/>
          <p:cNvSpPr txBox="1"/>
          <p:nvPr/>
        </p:nvSpPr>
        <p:spPr>
          <a:xfrm>
            <a:off x="304801" y="1357207"/>
            <a:ext cx="11242887" cy="5051213"/>
          </a:xfrm>
          <a:prstGeom prst="rect">
            <a:avLst/>
          </a:prstGeom>
          <a:noFill/>
        </p:spPr>
        <p:txBody>
          <a:bodyPr wrap="square" rtlCol="0">
            <a:noAutofit/>
          </a:bodyPr>
          <a:lstStyle/>
          <a:p>
            <a:r>
              <a:rPr lang="en-US" altLang="en-US" sz="1600" b="1">
                <a:solidFill>
                  <a:schemeClr val="accent2"/>
                </a:solidFill>
              </a:rPr>
              <a:t>Vanishing Gradient Problem</a:t>
            </a:r>
          </a:p>
          <a:p>
            <a:endParaRPr lang="en-US" altLang="en-US" sz="1600"/>
          </a:p>
          <a:p>
            <a:r>
              <a:rPr lang="en-US" sz="1600" b="1" dirty="0">
                <a:latin typeface="Times New Roman" panose="02020603050405020304" pitchFamily="18" charset="0"/>
                <a:cs typeface="Times New Roman" panose="02020603050405020304" pitchFamily="18" charset="0"/>
                <a:sym typeface="+mn-ea"/>
              </a:rPr>
              <a:t>Vanishing Gradient Problem</a:t>
            </a:r>
            <a:r>
              <a:rPr lang="en-US" sz="1600" dirty="0">
                <a:latin typeface="Times New Roman" panose="02020603050405020304" pitchFamily="18" charset="0"/>
                <a:cs typeface="Times New Roman" panose="02020603050405020304" pitchFamily="18" charset="0"/>
                <a:sym typeface="+mn-ea"/>
              </a:rPr>
              <a:t>: One challenge with traditional RNNs is the "vanishing gradient" problem. During backpropagation, gradients can become extremely small when training on long sequences, making it difficult for the network to learn long-term dependencies. As a result, traditional RNNs may struggle to capture information from distant past time steps</a:t>
            </a:r>
            <a:endParaRPr lang="en-US" altLang="en-US" sz="1600"/>
          </a:p>
          <a:p>
            <a:endParaRPr lang="en-US" altLang="en-US" sz="1600"/>
          </a:p>
          <a:p>
            <a:r>
              <a:rPr lang="en-US" altLang="en-US" sz="1600" b="1">
                <a:solidFill>
                  <a:schemeClr val="accent2"/>
                </a:solidFill>
              </a:rPr>
              <a:t>SOLUTION</a:t>
            </a:r>
          </a:p>
          <a:p>
            <a:r>
              <a:rPr lang="en-US" altLang="en-US" sz="1600"/>
              <a:t>LSTM solves the vanishing gradient problem by using a special structure called a cell state, which carries information across long sequences with minimal changes.</a:t>
            </a:r>
          </a:p>
          <a:p>
            <a:r>
              <a:rPr lang="en-US" altLang="en-US" sz="1600"/>
              <a:t>Gates (forget, input, and output) control what information to keep, add, or remove from the cell state.</a:t>
            </a:r>
          </a:p>
          <a:p>
            <a:r>
              <a:rPr lang="en-US" altLang="en-US" sz="1600"/>
              <a:t>The sigmoid function filters values between 0 and 1, while tanh keeps activations between -1 and 1.</a:t>
            </a:r>
          </a:p>
          <a:p>
            <a:r>
              <a:rPr lang="en-US" altLang="en-US" sz="1600"/>
              <a:t>This controlled flow prevents gradients from shrinking during backpropagation.</a:t>
            </a:r>
          </a:p>
          <a:p>
            <a:r>
              <a:rPr lang="en-US" altLang="en-US" sz="1600"/>
              <a:t>As a result, LSTM can remember long-term dependencies effectively.</a:t>
            </a:r>
            <a:endParaRPr lang="en-US" sz="1600"/>
          </a:p>
        </p:txBody>
      </p:sp>
    </p:spTree>
    <p:extLst>
      <p:ext uri="{BB962C8B-B14F-4D97-AF65-F5344CB8AC3E}">
        <p14:creationId xmlns:p14="http://schemas.microsoft.com/office/powerpoint/2010/main" val="1135654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ADVANTAGES OF LSTM</a:t>
            </a:r>
          </a:p>
        </p:txBody>
      </p:sp>
      <p:sp>
        <p:nvSpPr>
          <p:cNvPr id="3" name="Text Placeholder 2"/>
          <p:cNvSpPr>
            <a:spLocks noGrp="1"/>
          </p:cNvSpPr>
          <p:nvPr>
            <p:ph type="body" idx="1"/>
          </p:nvPr>
        </p:nvSpPr>
        <p:spPr/>
        <p:txBody>
          <a:bodyPr/>
          <a:lstStyle/>
          <a:p>
            <a:r>
              <a:rPr lang="en-US" altLang="en-US" sz="1867"/>
              <a:t>LSTM can remember long-term dependencies in sequence data.</a:t>
            </a:r>
          </a:p>
          <a:p>
            <a:r>
              <a:rPr lang="en-US" altLang="en-US" sz="1867"/>
              <a:t>It solves the vanishing gradient problem present in traditional RNNs.</a:t>
            </a:r>
          </a:p>
          <a:p>
            <a:r>
              <a:rPr lang="en-US" altLang="en-US" sz="1867"/>
              <a:t>Gates allow controlled flow of information, improving learning efficiency.</a:t>
            </a:r>
          </a:p>
          <a:p>
            <a:r>
              <a:rPr lang="en-US" altLang="en-US" sz="1867"/>
              <a:t>LSTM works well for time series, language, and speech-related tasks</a:t>
            </a:r>
          </a:p>
        </p:txBody>
      </p:sp>
      <p:sp>
        <p:nvSpPr>
          <p:cNvPr id="4" name="Slide Number Placeholder 3"/>
          <p:cNvSpPr>
            <a:spLocks noGrp="1"/>
          </p:cNvSpPr>
          <p:nvPr>
            <p:ph type="sldNum" idx="12"/>
          </p:nvPr>
        </p:nvSpPr>
        <p:spPr/>
        <p:txBody>
          <a:bodyPr/>
          <a:lstStyle/>
          <a:p>
            <a:fld id="{00000000-1234-1234-1234-123412341234}" type="slidenum">
              <a:rPr lang="en-GB"/>
              <a:pPr/>
              <a:t>7</a:t>
            </a:fld>
            <a:endParaRPr lang="en-GB"/>
          </a:p>
        </p:txBody>
      </p:sp>
    </p:spTree>
    <p:extLst>
      <p:ext uri="{BB962C8B-B14F-4D97-AF65-F5344CB8AC3E}">
        <p14:creationId xmlns:p14="http://schemas.microsoft.com/office/powerpoint/2010/main" val="4020971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DISADVANTAGES OF LSTM</a:t>
            </a:r>
          </a:p>
        </p:txBody>
      </p:sp>
      <p:sp>
        <p:nvSpPr>
          <p:cNvPr id="3" name="Text Placeholder 2"/>
          <p:cNvSpPr>
            <a:spLocks noGrp="1"/>
          </p:cNvSpPr>
          <p:nvPr>
            <p:ph type="body" idx="1"/>
          </p:nvPr>
        </p:nvSpPr>
        <p:spPr/>
        <p:txBody>
          <a:bodyPr/>
          <a:lstStyle/>
          <a:p>
            <a:r>
              <a:rPr lang="en-US" altLang="en-US" sz="1867"/>
              <a:t>LSTMs are computationally expensive due to multiple gates and parameters.</a:t>
            </a:r>
          </a:p>
          <a:p>
            <a:r>
              <a:rPr lang="en-US" altLang="en-US" sz="1867"/>
              <a:t>They require more memory than simple RNNs.</a:t>
            </a:r>
          </a:p>
          <a:p>
            <a:r>
              <a:rPr lang="en-US" altLang="en-US" sz="1867"/>
              <a:t>Long training time is needed, especially for large sequences.</a:t>
            </a:r>
          </a:p>
          <a:p>
            <a:r>
              <a:rPr lang="en-US" altLang="en-US" sz="1867"/>
              <a:t>Performance depends on large datasets; small datasets may cause overfitting.</a:t>
            </a:r>
          </a:p>
          <a:p>
            <a:r>
              <a:rPr lang="en-US" altLang="en-US" sz="1867"/>
              <a:t>The architecture is complex, making tuning and implementation harder</a:t>
            </a:r>
          </a:p>
        </p:txBody>
      </p:sp>
      <p:sp>
        <p:nvSpPr>
          <p:cNvPr id="4" name="Slide Number Placeholder 3"/>
          <p:cNvSpPr>
            <a:spLocks noGrp="1"/>
          </p:cNvSpPr>
          <p:nvPr>
            <p:ph type="sldNum" idx="12"/>
          </p:nvPr>
        </p:nvSpPr>
        <p:spPr/>
        <p:txBody>
          <a:bodyPr/>
          <a:lstStyle/>
          <a:p>
            <a:fld id="{00000000-1234-1234-1234-123412341234}" type="slidenum">
              <a:rPr lang="en-GB"/>
              <a:pPr/>
              <a:t>8</a:t>
            </a:fld>
            <a:endParaRPr lang="en-GB"/>
          </a:p>
        </p:txBody>
      </p:sp>
    </p:spTree>
    <p:extLst>
      <p:ext uri="{BB962C8B-B14F-4D97-AF65-F5344CB8AC3E}">
        <p14:creationId xmlns:p14="http://schemas.microsoft.com/office/powerpoint/2010/main" val="3555315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APPLICATIONS OF LSTM</a:t>
            </a:r>
          </a:p>
        </p:txBody>
      </p:sp>
      <p:sp>
        <p:nvSpPr>
          <p:cNvPr id="3" name="Text Placeholder 2"/>
          <p:cNvSpPr>
            <a:spLocks noGrp="1"/>
          </p:cNvSpPr>
          <p:nvPr>
            <p:ph type="body" idx="1"/>
          </p:nvPr>
        </p:nvSpPr>
        <p:spPr>
          <a:xfrm>
            <a:off x="342901" y="1141307"/>
            <a:ext cx="11534140" cy="5599853"/>
          </a:xfrm>
        </p:spPr>
        <p:txBody>
          <a:bodyPr>
            <a:noAutofit/>
          </a:bodyPr>
          <a:lstStyle/>
          <a:p>
            <a:r>
              <a:rPr lang="en-US" altLang="en-US" sz="1600" b="1"/>
              <a:t>1. Natural Language Processing (NLP)</a:t>
            </a:r>
          </a:p>
          <a:p>
            <a:r>
              <a:rPr lang="en-US" altLang="en-US" sz="1600"/>
              <a:t>Language modeling, text generation, machine translation, and sentiment analysis.</a:t>
            </a:r>
          </a:p>
          <a:p>
            <a:endParaRPr lang="en-US" altLang="en-US" sz="1600"/>
          </a:p>
          <a:p>
            <a:r>
              <a:rPr lang="en-US" altLang="en-US" sz="1600" b="1"/>
              <a:t>2. Speech Recognition</a:t>
            </a:r>
          </a:p>
          <a:p>
            <a:r>
              <a:rPr lang="en-US" altLang="en-US" sz="1600"/>
              <a:t>Converting spoken words into text accurately by learning long-term patterns in audio sequences.</a:t>
            </a:r>
          </a:p>
          <a:p>
            <a:endParaRPr lang="en-US" altLang="en-US" sz="1600" b="1"/>
          </a:p>
          <a:p>
            <a:r>
              <a:rPr lang="en-US" altLang="en-US" sz="1600" b="1"/>
              <a:t>3. Time Series Prediction</a:t>
            </a:r>
          </a:p>
          <a:p>
            <a:r>
              <a:rPr lang="en-US" altLang="en-US" sz="1600"/>
              <a:t>Stock prices, weather forecasting, and sales predictions, where past information influences the future.</a:t>
            </a:r>
          </a:p>
          <a:p>
            <a:endParaRPr lang="en-US" altLang="en-US" sz="1600"/>
          </a:p>
          <a:p>
            <a:r>
              <a:rPr lang="en-US" altLang="en-US" sz="1600" b="1"/>
              <a:t>4. Anomaly Detection</a:t>
            </a:r>
          </a:p>
          <a:p>
            <a:r>
              <a:rPr lang="en-US" altLang="en-US" sz="1600"/>
              <a:t>Detecting unusual patterns in data streams like network traffic or machinery sensors.</a:t>
            </a:r>
          </a:p>
          <a:p>
            <a:endParaRPr lang="en-US" altLang="en-US" sz="1600" b="1"/>
          </a:p>
          <a:p>
            <a:r>
              <a:rPr lang="en-US" altLang="en-US" sz="1600" b="1"/>
              <a:t>5. Handwriting and Gesture Recognition</a:t>
            </a:r>
          </a:p>
          <a:p>
            <a:r>
              <a:rPr lang="en-US" altLang="en-US" sz="1600"/>
              <a:t>Learning sequences in handwritten text or motion data.</a:t>
            </a:r>
          </a:p>
          <a:p>
            <a:endParaRPr lang="en-US" altLang="en-US" sz="1600" b="1"/>
          </a:p>
          <a:p>
            <a:r>
              <a:rPr lang="en-US" altLang="en-US" sz="1600" b="1"/>
              <a:t>6. Music and Video Generation</a:t>
            </a:r>
          </a:p>
          <a:p>
            <a:r>
              <a:rPr lang="en-US" altLang="en-US" sz="1600"/>
              <a:t>Predicting sequences of notes or video frames in creative AI applications</a:t>
            </a:r>
            <a:r>
              <a:rPr lang="en-US" altLang="en-US" sz="1067"/>
              <a:t>.</a:t>
            </a:r>
          </a:p>
        </p:txBody>
      </p:sp>
      <p:sp>
        <p:nvSpPr>
          <p:cNvPr id="4" name="Slide Number Placeholder 3"/>
          <p:cNvSpPr>
            <a:spLocks noGrp="1"/>
          </p:cNvSpPr>
          <p:nvPr>
            <p:ph type="sldNum" idx="12"/>
          </p:nvPr>
        </p:nvSpPr>
        <p:spPr/>
        <p:txBody>
          <a:bodyPr/>
          <a:lstStyle/>
          <a:p>
            <a:fld id="{00000000-1234-1234-1234-123412341234}" type="slidenum">
              <a:rPr lang="en-GB"/>
              <a:pPr/>
              <a:t>9</a:t>
            </a:fld>
            <a:endParaRPr lang="en-GB"/>
          </a:p>
        </p:txBody>
      </p:sp>
    </p:spTree>
    <p:extLst>
      <p:ext uri="{BB962C8B-B14F-4D97-AF65-F5344CB8AC3E}">
        <p14:creationId xmlns:p14="http://schemas.microsoft.com/office/powerpoint/2010/main" val="92947614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73</TotalTime>
  <Words>793</Words>
  <Application>Microsoft Office PowerPoint</Application>
  <PresentationFormat>Widescreen</PresentationFormat>
  <Paragraphs>60</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Google Sans</vt:lpstr>
      <vt:lpstr>Times New Roman</vt:lpstr>
      <vt:lpstr>Trebuchet MS</vt:lpstr>
      <vt:lpstr>Wingdings 3</vt:lpstr>
      <vt:lpstr>Facet</vt:lpstr>
      <vt:lpstr>Long Short-Term Memory (LSTM) model</vt:lpstr>
      <vt:lpstr>FORGET INPUT AND OUTPUT GATES DIAGRAM</vt:lpstr>
      <vt:lpstr>.</vt:lpstr>
      <vt:lpstr>PowerPoint Presentation</vt:lpstr>
      <vt:lpstr>PowerPoint Presentation</vt:lpstr>
      <vt:lpstr>LSTM SOLVE THE VANISHING GRADIENT </vt:lpstr>
      <vt:lpstr>ADVANTAGES OF LSTM</vt:lpstr>
      <vt:lpstr>DISADVANTAGES OF LSTM</vt:lpstr>
      <vt:lpstr>APPLICATIONS OF LSTM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LSTM</dc:title>
  <dc:creator>Partner Manager</dc:creator>
  <cp:lastModifiedBy>Sana Cheema</cp:lastModifiedBy>
  <cp:revision>9</cp:revision>
  <dcterms:created xsi:type="dcterms:W3CDTF">2025-12-16T12:56:15Z</dcterms:created>
  <dcterms:modified xsi:type="dcterms:W3CDTF">2026-01-12T03:35:44Z</dcterms:modified>
</cp:coreProperties>
</file>